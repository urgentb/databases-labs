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AC35E5-13DF-4EAE-859B-BBCC519F0E29}" v="9" dt="2026-04-29T12:08:27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61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03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4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12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21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40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6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5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43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86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8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5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A21003-D49D-438A-BF83-99FADA6438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260" r="-2" b="7314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ru-RU" sz="5400">
                <a:solidFill>
                  <a:srgbClr val="FFFFFF"/>
                </a:solidFill>
              </a:rPr>
              <a:t>Оптимизация запросов Postgres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endParaRPr lang="ru-RU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CA218-604F-365E-850E-001EEA81F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636B0F-84F5-881F-25EA-0B8B64B1FA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00" r="9091" b="1145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A6255-FCDB-BCAF-8E5A-54482C41F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6892084" cy="3685731"/>
          </a:xfrm>
        </p:spPr>
        <p:txBody>
          <a:bodyPr anchor="t">
            <a:normAutofit/>
          </a:bodyPr>
          <a:lstStyle/>
          <a:p>
            <a:pPr algn="l"/>
            <a:r>
              <a:rPr lang="ru-RU" sz="6100"/>
              <a:t>Отслеживание неэффективных запросов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E218206-5041-0469-84F4-556B087BA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3743020"/>
            <a:ext cx="9891221" cy="133393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ru-RU" sz="3600" dirty="0"/>
              <a:t>Файл: </a:t>
            </a:r>
            <a:r>
              <a:rPr lang="ru-RU" sz="3600">
                <a:ea typeface="+mn-lt"/>
                <a:cs typeface="+mn-lt"/>
              </a:rPr>
              <a:t>postgresql.conf: </a:t>
            </a:r>
            <a:r>
              <a:rPr lang="ru-RU" sz="3600">
                <a:latin typeface="Consolas"/>
                <a:ea typeface="+mn-lt"/>
                <a:cs typeface="+mn-lt"/>
              </a:rPr>
              <a:t>log_min_duration_statement</a:t>
            </a:r>
            <a:endParaRPr lang="ru-RU" sz="36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30776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1D1E7-A287-3A66-DF30-53EFD41F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7BBAD64-2C1B-F4AB-A0E4-2AB8FC731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089A83-69C1-811F-A01F-ACDAD412E2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00" r="9091" b="1145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0AD0CFB-33E4-AD55-5130-EE5493E3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F28680-389F-8032-F9AD-ED0345AB9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6892084" cy="1821421"/>
          </a:xfrm>
        </p:spPr>
        <p:txBody>
          <a:bodyPr anchor="t">
            <a:normAutofit/>
          </a:bodyPr>
          <a:lstStyle/>
          <a:p>
            <a:pPr algn="l"/>
            <a:r>
              <a:rPr lang="ru-RU" sz="6100"/>
              <a:t>Диагностика запросов: explain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8C2513-D119-565F-661C-E0242BBA0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392787"/>
            <a:ext cx="7965547" cy="684167"/>
          </a:xfrm>
        </p:spPr>
        <p:txBody>
          <a:bodyPr anchor="ctr">
            <a:normAutofit/>
          </a:bodyPr>
          <a:lstStyle/>
          <a:p>
            <a:pPr algn="l"/>
            <a:endParaRPr lang="ru-RU" sz="2200" dirty="0">
              <a:latin typeface="Consolas"/>
              <a:ea typeface="+mn-lt"/>
              <a:cs typeface="+mn-lt"/>
            </a:endParaRPr>
          </a:p>
        </p:txBody>
      </p:sp>
      <p:pic>
        <p:nvPicPr>
          <p:cNvPr id="5" name="Рисунок 4" descr="Guy explaining (Meme template) on Make a GIF">
            <a:extLst>
              <a:ext uri="{FF2B5EF4-FFF2-40B4-BE49-F238E27FC236}">
                <a16:creationId xmlns:a16="http://schemas.microsoft.com/office/drawing/2014/main" id="{C502F54C-21FC-4796-928B-F339A1805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69" y="2667422"/>
            <a:ext cx="11443315" cy="345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12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92952-FAA3-FBDE-84C9-721062B34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A6305C8-2DEC-8D41-A949-330281D6D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E6786E-495F-9AC2-A916-9D34DA3113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00" r="9091" b="1145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968F224-AF33-6770-A9AB-4A673750C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D6ED9-AA86-10B8-DE1B-BB26FF12E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6892084" cy="1821421"/>
          </a:xfrm>
        </p:spPr>
        <p:txBody>
          <a:bodyPr anchor="t">
            <a:normAutofit/>
          </a:bodyPr>
          <a:lstStyle/>
          <a:p>
            <a:pPr algn="l"/>
            <a:r>
              <a:rPr lang="ru-RU" sz="6100"/>
              <a:t>Диагностика запросов: explain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5893C56-6665-65EF-0865-4CEB5FD4C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392787"/>
            <a:ext cx="7965547" cy="684167"/>
          </a:xfrm>
        </p:spPr>
        <p:txBody>
          <a:bodyPr anchor="ctr">
            <a:normAutofit/>
          </a:bodyPr>
          <a:lstStyle/>
          <a:p>
            <a:pPr algn="l"/>
            <a:endParaRPr lang="ru-RU" sz="2200" dirty="0">
              <a:latin typeface="Consolas"/>
              <a:ea typeface="+mn-lt"/>
              <a:cs typeface="+mn-lt"/>
            </a:endParaRPr>
          </a:p>
        </p:txBody>
      </p:sp>
      <p:pic>
        <p:nvPicPr>
          <p:cNvPr id="7" name="Рисунок 6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B5EE603-92E9-5E21-2496-8DB5DC29C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14" y="2620977"/>
            <a:ext cx="11511641" cy="2457449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5C4818C-2BC5-107A-0730-CC6B2A73F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18" y="2617133"/>
            <a:ext cx="11511641" cy="245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12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E89DEE-59F1-F126-BC52-E77781578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9F77222-3785-01C1-D6EC-CCED0BF11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42C607-07E8-D8C0-4D0F-87278B054B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00" r="9091" b="1145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65B2CC3-94E0-D942-6C44-D48D048C9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DA057F-23F5-EA83-0603-F5E14924C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6892084" cy="1821421"/>
          </a:xfrm>
        </p:spPr>
        <p:txBody>
          <a:bodyPr anchor="t">
            <a:normAutofit/>
          </a:bodyPr>
          <a:lstStyle/>
          <a:p>
            <a:pPr algn="l"/>
            <a:r>
              <a:rPr lang="ru-RU" sz="6100"/>
              <a:t>Диагностика запросов: explain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8F0F29-B6E9-E0F0-B72A-0A7D8CD8B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2295713"/>
            <a:ext cx="7965547" cy="35180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2200">
                <a:latin typeface="Consolas"/>
                <a:ea typeface="+mn-lt"/>
                <a:cs typeface="+mn-lt"/>
              </a:rPr>
              <a:t>Типы стратегий:</a:t>
            </a:r>
          </a:p>
          <a:p>
            <a:pPr algn="l"/>
            <a:r>
              <a:rPr lang="ru-RU">
                <a:solidFill>
                  <a:srgbClr val="F9FAFB"/>
                </a:solidFill>
              </a:rPr>
              <a:t>Seq Scan (Sequential Scan) — Последовательное сканирование.</a:t>
            </a:r>
            <a:endParaRPr lang="ru-RU"/>
          </a:p>
          <a:p>
            <a:pPr algn="l"/>
            <a:r>
              <a:rPr lang="ru-RU">
                <a:solidFill>
                  <a:srgbClr val="F9FAFB"/>
                </a:solidFill>
              </a:rPr>
              <a:t>Index Scan — Сканирование по индексу</a:t>
            </a:r>
            <a:endParaRPr lang="ru-RU"/>
          </a:p>
          <a:p>
            <a:pPr algn="l"/>
            <a:r>
              <a:rPr lang="ru-RU">
                <a:solidFill>
                  <a:srgbClr val="F9FAFB"/>
                </a:solidFill>
              </a:rPr>
              <a:t>Index Only Scan — Сканирование только индекса</a:t>
            </a:r>
            <a:endParaRPr lang="ru-RU"/>
          </a:p>
          <a:p>
            <a:pPr algn="l"/>
            <a:r>
              <a:rPr lang="ru-RU">
                <a:solidFill>
                  <a:srgbClr val="F9FAFB"/>
                </a:solidFill>
              </a:rPr>
              <a:t>Bitmap Scan — Битовое сканирование</a:t>
            </a:r>
            <a:endParaRPr lang="ru-RU"/>
          </a:p>
          <a:p>
            <a:pPr algn="l"/>
            <a:endParaRPr lang="ru-RU" dirty="0">
              <a:solidFill>
                <a:srgbClr val="F9FAFB"/>
              </a:solidFill>
              <a:latin typeface="Consolas"/>
              <a:ea typeface="+mn-lt"/>
              <a:cs typeface="+mn-lt"/>
            </a:endParaRPr>
          </a:p>
          <a:p>
            <a:pPr algn="l"/>
            <a:endParaRPr lang="ru-RU" sz="2200" dirty="0">
              <a:latin typeface="Consolas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7675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24D71-D081-AC3F-1F23-9100AE5E0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C639A17-B659-5EE4-56FE-CCA2FFA47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E1A340-D1EF-54B8-0940-3F2186A590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00" r="9091" b="1145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2914F7C-51F4-C3D2-71BF-2E12A5DF9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01034-5469-2686-F9F6-A7D868E4A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9184380" cy="1821421"/>
          </a:xfrm>
        </p:spPr>
        <p:txBody>
          <a:bodyPr anchor="t">
            <a:normAutofit/>
          </a:bodyPr>
          <a:lstStyle/>
          <a:p>
            <a:pPr algn="l"/>
            <a:r>
              <a:rPr lang="ru-RU" sz="6100"/>
              <a:t>Диагностика запросов: explain (analyze)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1A71A9-7FD3-AEE8-88B7-D770630969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2295713"/>
            <a:ext cx="7965547" cy="35180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ru-RU" sz="2200" dirty="0">
              <a:latin typeface="Consolas"/>
            </a:endParaRPr>
          </a:p>
          <a:p>
            <a:pPr algn="l"/>
            <a:endParaRPr lang="ru-RU" dirty="0">
              <a:solidFill>
                <a:srgbClr val="F9FAFB"/>
              </a:solidFill>
              <a:latin typeface="Consolas"/>
              <a:ea typeface="+mn-lt"/>
              <a:cs typeface="+mn-lt"/>
            </a:endParaRPr>
          </a:p>
          <a:p>
            <a:pPr algn="l"/>
            <a:endParaRPr lang="ru-RU" sz="2200" dirty="0">
              <a:latin typeface="Consolas"/>
              <a:ea typeface="+mn-lt"/>
              <a:cs typeface="+mn-lt"/>
            </a:endParaRPr>
          </a:p>
        </p:txBody>
      </p:sp>
      <p:pic>
        <p:nvPicPr>
          <p:cNvPr id="5" name="Рисунок 4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B668EF-F1D8-C922-0B91-5E41BBF42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54093"/>
            <a:ext cx="12192000" cy="200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124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9731E7-131D-C3CE-D5CF-E3290F85A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E17CD60-68B0-5621-FF5E-5A4C3256E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6A1912-F01D-A803-2A6E-C64FE70849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00" r="9091" b="1145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3BE569D-EC40-295E-DED4-BEA182E2F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7AF1BA-8F58-8773-7E06-E704C6192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8817758" cy="1821421"/>
          </a:xfrm>
        </p:spPr>
        <p:txBody>
          <a:bodyPr anchor="t">
            <a:normAutofit/>
          </a:bodyPr>
          <a:lstStyle/>
          <a:p>
            <a:pPr algn="l"/>
            <a:r>
              <a:rPr lang="ru-RU" sz="6100"/>
              <a:t>Диагностика запросов: буферы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191FD9-3985-C375-0A64-0407CBC87B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2295713"/>
            <a:ext cx="7965547" cy="35180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2200">
                <a:latin typeface="Consolas"/>
              </a:rPr>
              <a:t>Параметры буфера:</a:t>
            </a:r>
            <a:endParaRPr lang="ru-RU" sz="2200" dirty="0">
              <a:latin typeface="Consolas"/>
            </a:endParaRPr>
          </a:p>
          <a:p>
            <a:pPr algn="l"/>
            <a:r>
              <a:rPr lang="ru-RU" sz="2200">
                <a:solidFill>
                  <a:srgbClr val="FFFFFF"/>
                </a:solidFill>
                <a:latin typeface="Consolas"/>
                <a:ea typeface="+mn-lt"/>
                <a:cs typeface="+mn-lt"/>
              </a:rPr>
              <a:t>Hit - данные были в ОЗУ;</a:t>
            </a:r>
            <a:endParaRPr lang="ru-RU" sz="2200" dirty="0">
              <a:solidFill>
                <a:srgbClr val="FFFFFF"/>
              </a:solidFill>
              <a:latin typeface="Consolas"/>
              <a:ea typeface="+mn-lt"/>
              <a:cs typeface="+mn-lt"/>
            </a:endParaRPr>
          </a:p>
          <a:p>
            <a:pPr algn="l"/>
            <a:r>
              <a:rPr lang="ru-RU" sz="2200">
                <a:solidFill>
                  <a:srgbClr val="FFFFFF"/>
                </a:solidFill>
                <a:latin typeface="Consolas"/>
                <a:ea typeface="+mn-lt"/>
                <a:cs typeface="+mn-lt"/>
              </a:rPr>
              <a:t>Read - данные пришлось читать с диска;</a:t>
            </a:r>
            <a:endParaRPr lang="ru-RU" sz="2200" dirty="0">
              <a:solidFill>
                <a:srgbClr val="FFFFFF"/>
              </a:solidFill>
              <a:latin typeface="Consolas"/>
              <a:ea typeface="+mn-lt"/>
              <a:cs typeface="+mn-lt"/>
            </a:endParaRPr>
          </a:p>
          <a:p>
            <a:pPr algn="l"/>
            <a:r>
              <a:rPr lang="ru-RU" sz="2200">
                <a:latin typeface="Consolas"/>
                <a:ea typeface="+mn-lt"/>
                <a:cs typeface="+mn-lt"/>
              </a:rPr>
              <a:t>Dirtied - "грязные" данные в ОЗУ;</a:t>
            </a:r>
            <a:endParaRPr lang="ru-RU" sz="2200" dirty="0">
              <a:latin typeface="Consolas"/>
              <a:ea typeface="+mn-lt"/>
              <a:cs typeface="+mn-lt"/>
            </a:endParaRPr>
          </a:p>
          <a:p>
            <a:pPr algn="l"/>
            <a:endParaRPr lang="ru-RU" sz="2200" b="1" dirty="0">
              <a:solidFill>
                <a:srgbClr val="FFFFFF"/>
              </a:solidFill>
              <a:latin typeface="Consolas"/>
              <a:ea typeface="+mn-lt"/>
              <a:cs typeface="+mn-lt"/>
            </a:endParaRPr>
          </a:p>
          <a:p>
            <a:pPr algn="l"/>
            <a:endParaRPr lang="ru-RU" sz="2200" dirty="0">
              <a:solidFill>
                <a:srgbClr val="FFFFFF"/>
              </a:solidFill>
              <a:latin typeface="Consolas"/>
              <a:ea typeface="+mn-lt"/>
              <a:cs typeface="+mn-lt"/>
            </a:endParaRPr>
          </a:p>
          <a:p>
            <a:pPr algn="l"/>
            <a:endParaRPr lang="ru-RU" dirty="0">
              <a:solidFill>
                <a:srgbClr val="F9FAFB"/>
              </a:solidFill>
              <a:latin typeface="Consolas"/>
              <a:ea typeface="+mn-lt"/>
              <a:cs typeface="+mn-lt"/>
            </a:endParaRPr>
          </a:p>
          <a:p>
            <a:pPr algn="l"/>
            <a:endParaRPr lang="ru-RU" sz="2200" dirty="0">
              <a:latin typeface="Consolas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16469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VanillaVTI</vt:lpstr>
      <vt:lpstr>Оптимизация запросов Postgres</vt:lpstr>
      <vt:lpstr>Отслеживание неэффективных запросов</vt:lpstr>
      <vt:lpstr>Диагностика запросов: explain</vt:lpstr>
      <vt:lpstr>Диагностика запросов: explain</vt:lpstr>
      <vt:lpstr>Диагностика запросов: explain</vt:lpstr>
      <vt:lpstr>Диагностика запросов: explain (analyze)</vt:lpstr>
      <vt:lpstr>Диагностика запросов: буферы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126</cp:revision>
  <dcterms:created xsi:type="dcterms:W3CDTF">2026-03-26T12:50:27Z</dcterms:created>
  <dcterms:modified xsi:type="dcterms:W3CDTF">2026-04-29T12:08:37Z</dcterms:modified>
</cp:coreProperties>
</file>